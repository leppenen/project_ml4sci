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94711"/>
  </p:normalViewPr>
  <p:slideViewPr>
    <p:cSldViewPr snapToGrid="0">
      <p:cViewPr>
        <p:scale>
          <a:sx n="50" d="100"/>
          <a:sy n="50" d="100"/>
        </p:scale>
        <p:origin x="208" y="-824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37F61-AF50-AD4F-B75E-F60FF2881E31}" type="datetimeFigureOut">
              <a:rPr lang="en-IL" smtClean="0"/>
              <a:t>8/31/26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5B114-2735-914B-9C79-FC45AC84F0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9542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35077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8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Fixed N and 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Weizmann Bold" pitchFamily="2" charset="-79"/>
                      </a:rPr>
                      <m:t>𝛀</m:t>
                    </m:r>
                  </m:oMath>
                </a14:m>
                <a:r>
                  <a:rPr lang="en-US" sz="48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 – test of the model</a:t>
                </a:r>
              </a:p>
              <a:p>
                <a:endParaRPr lang="en-IL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35077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8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Fixed N and </a:t>
                </a:r>
                <a:r>
                  <a:rPr lang="en-US" sz="4800" b="1" i="0">
                    <a:solidFill>
                      <a:schemeClr val="bg1"/>
                    </a:solidFill>
                    <a:latin typeface="Cambria Math" panose="02040503050406030204" pitchFamily="18" charset="0"/>
                    <a:cs typeface="Weizmann Bold" pitchFamily="2" charset="-79"/>
                  </a:rPr>
                  <a:t>𝛀</a:t>
                </a:r>
                <a:r>
                  <a:rPr lang="en-US" sz="48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 – test of the model</a:t>
                </a:r>
              </a:p>
              <a:p>
                <a:endParaRPr lang="en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5B114-2735-914B-9C79-FC45AC84F0B3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338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013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868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502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57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556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300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70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764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26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485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222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BA612-6A47-1049-B151-B11D0B5E9A56}" type="datetimeFigureOut">
              <a:rPr lang="en-IL" smtClean="0"/>
              <a:t>8/31/26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4634C-F3D9-1442-9E2A-11CCAD738A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660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Прямоугольник 162">
            <a:extLst>
              <a:ext uri="{FF2B5EF4-FFF2-40B4-BE49-F238E27FC236}">
                <a16:creationId xmlns:a16="http://schemas.microsoft.com/office/drawing/2014/main" id="{66EF1987-C8BB-E640-726A-C5DE14A9AD8A}"/>
              </a:ext>
            </a:extLst>
          </p:cNvPr>
          <p:cNvSpPr/>
          <p:nvPr/>
        </p:nvSpPr>
        <p:spPr>
          <a:xfrm>
            <a:off x="94575" y="56586"/>
            <a:ext cx="18877159" cy="2474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F6459-C519-D3D4-CBFD-62AE10E3F8BB}"/>
              </a:ext>
            </a:extLst>
          </p:cNvPr>
          <p:cNvSpPr txBox="1"/>
          <p:nvPr/>
        </p:nvSpPr>
        <p:spPr>
          <a:xfrm>
            <a:off x="264861" y="47746"/>
            <a:ext cx="172755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0" dirty="0">
                <a:solidFill>
                  <a:schemeClr val="bg1"/>
                </a:solidFill>
                <a:latin typeface="Weizmann" pitchFamily="2" charset="-79"/>
                <a:cs typeface="Weizmann" pitchFamily="2" charset="-79"/>
              </a:rPr>
              <a:t>Predicting Open Quantum Systems Trajectories: </a:t>
            </a:r>
            <a:r>
              <a:rPr lang="en-US" sz="8000" dirty="0" err="1">
                <a:solidFill>
                  <a:schemeClr val="bg1"/>
                </a:solidFill>
                <a:latin typeface="Weizmann" pitchFamily="2" charset="-79"/>
                <a:cs typeface="Weizmann" pitchFamily="2" charset="-79"/>
              </a:rPr>
              <a:t>TrajectoryGRUGrid</a:t>
            </a:r>
            <a:endParaRPr lang="ru-RU" sz="8000" dirty="0">
              <a:solidFill>
                <a:schemeClr val="bg1"/>
              </a:solidFill>
              <a:latin typeface="+mj-lt"/>
              <a:cs typeface="Weizmann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59D52-C4B3-E052-5AE8-FD9F536DF02D}"/>
              </a:ext>
            </a:extLst>
          </p:cNvPr>
          <p:cNvSpPr txBox="1"/>
          <p:nvPr/>
        </p:nvSpPr>
        <p:spPr>
          <a:xfrm>
            <a:off x="126623" y="2645398"/>
            <a:ext cx="24588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  <a:cs typeface="Calibri" panose="020F0502020204030204" pitchFamily="34" charset="0"/>
              </a:rPr>
              <a:t>Nikita Leppenen</a:t>
            </a:r>
            <a:r>
              <a:rPr lang="en-US" sz="4400" dirty="0">
                <a:latin typeface="+mj-lt"/>
                <a:cs typeface="Calibri" panose="020F0502020204030204" pitchFamily="34" charset="0"/>
              </a:rPr>
              <a:t>			Collective Quantum Optics Group 		Department of Chemical &amp; Biological Physics </a:t>
            </a:r>
            <a:endParaRPr lang="ru-RU" sz="40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1E17A-C0F7-DE8C-AF6C-C2D850D6AD75}"/>
              </a:ext>
            </a:extLst>
          </p:cNvPr>
          <p:cNvSpPr txBox="1"/>
          <p:nvPr/>
        </p:nvSpPr>
        <p:spPr>
          <a:xfrm>
            <a:off x="455465" y="3385354"/>
            <a:ext cx="7741745" cy="783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 err="1">
                <a:latin typeface="+mj-lt"/>
                <a:cs typeface="Calibri" panose="020F0502020204030204" pitchFamily="34" charset="0"/>
              </a:rPr>
              <a:t>nikita.leppenen@weizmann.ac.il</a:t>
            </a:r>
            <a:endParaRPr lang="ru-RU" sz="40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84" name="Прямоугольник 162">
            <a:extLst>
              <a:ext uri="{FF2B5EF4-FFF2-40B4-BE49-F238E27FC236}">
                <a16:creationId xmlns:a16="http://schemas.microsoft.com/office/drawing/2014/main" id="{52D4D0AD-32D3-1797-A791-F816E1798688}"/>
              </a:ext>
            </a:extLst>
          </p:cNvPr>
          <p:cNvSpPr/>
          <p:nvPr/>
        </p:nvSpPr>
        <p:spPr>
          <a:xfrm>
            <a:off x="290150" y="4325597"/>
            <a:ext cx="13041781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653B585E-73E0-F780-1877-39E472D0CF96}"/>
              </a:ext>
            </a:extLst>
          </p:cNvPr>
          <p:cNvSpPr/>
          <p:nvPr/>
        </p:nvSpPr>
        <p:spPr>
          <a:xfrm>
            <a:off x="8644414" y="5394127"/>
            <a:ext cx="651986" cy="5167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0FCA2AD-563A-0EB3-492A-42EB87ED6092}"/>
              </a:ext>
            </a:extLst>
          </p:cNvPr>
          <p:cNvSpPr/>
          <p:nvPr/>
        </p:nvSpPr>
        <p:spPr>
          <a:xfrm>
            <a:off x="8586837" y="9076330"/>
            <a:ext cx="6320716" cy="42654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41699DE0-8500-B24C-10C2-02FEB4A5C546}"/>
              </a:ext>
            </a:extLst>
          </p:cNvPr>
          <p:cNvSpPr txBox="1"/>
          <p:nvPr/>
        </p:nvSpPr>
        <p:spPr>
          <a:xfrm>
            <a:off x="290150" y="4405431"/>
            <a:ext cx="13041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Physics (short): Driven – Dissipative cavity QED</a:t>
            </a:r>
          </a:p>
        </p:txBody>
      </p:sp>
      <p:pic>
        <p:nvPicPr>
          <p:cNvPr id="407" name="Picture 406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BA2B862-9435-F139-2207-BF0079494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4669" y="-22156"/>
            <a:ext cx="11546258" cy="2628189"/>
          </a:xfrm>
          <a:prstGeom prst="rect">
            <a:avLst/>
          </a:prstGeom>
        </p:spPr>
      </p:pic>
      <p:sp>
        <p:nvSpPr>
          <p:cNvPr id="542" name="Rectangle 541">
            <a:extLst>
              <a:ext uri="{FF2B5EF4-FFF2-40B4-BE49-F238E27FC236}">
                <a16:creationId xmlns:a16="http://schemas.microsoft.com/office/drawing/2014/main" id="{D8CA7687-52E7-AA8B-15C4-7F9E312EE222}"/>
              </a:ext>
            </a:extLst>
          </p:cNvPr>
          <p:cNvSpPr/>
          <p:nvPr/>
        </p:nvSpPr>
        <p:spPr>
          <a:xfrm>
            <a:off x="8355528" y="5480340"/>
            <a:ext cx="576410" cy="443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Прямоугольник 162">
            <a:extLst>
              <a:ext uri="{FF2B5EF4-FFF2-40B4-BE49-F238E27FC236}">
                <a16:creationId xmlns:a16="http://schemas.microsoft.com/office/drawing/2014/main" id="{D0AAC465-B89E-0148-5697-C5CFB49BA505}"/>
              </a:ext>
            </a:extLst>
          </p:cNvPr>
          <p:cNvSpPr/>
          <p:nvPr/>
        </p:nvSpPr>
        <p:spPr>
          <a:xfrm>
            <a:off x="13543632" y="4313550"/>
            <a:ext cx="16528126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7" name="Rectangle 126">
            <a:extLst>
              <a:ext uri="{FF2B5EF4-FFF2-40B4-BE49-F238E27FC236}">
                <a16:creationId xmlns:a16="http://schemas.microsoft.com/office/drawing/2014/main" id="{043B13AB-E547-6FCB-8F1E-6433FFA0A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1552" y="12969216"/>
            <a:ext cx="4315207" cy="45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 fontAlgn="base">
              <a:spcBef>
                <a:spcPct val="20000"/>
              </a:spcBef>
              <a:spcAft>
                <a:spcPct val="0"/>
              </a:spcAft>
            </a:pPr>
            <a:endParaRPr lang="en-US" dirty="0">
              <a:solidFill>
                <a:srgbClr val="262699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D95574-84E2-4AC6-4CDB-823BB050A3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1" t="4178"/>
          <a:stretch>
            <a:fillRect/>
          </a:stretch>
        </p:blipFill>
        <p:spPr>
          <a:xfrm>
            <a:off x="1292744" y="5357209"/>
            <a:ext cx="11311605" cy="4585088"/>
          </a:xfrm>
          <a:prstGeom prst="rect">
            <a:avLst/>
          </a:prstGeom>
        </p:spPr>
      </p:pic>
      <p:sp>
        <p:nvSpPr>
          <p:cNvPr id="10" name="Прямоугольник 162">
            <a:extLst>
              <a:ext uri="{FF2B5EF4-FFF2-40B4-BE49-F238E27FC236}">
                <a16:creationId xmlns:a16="http://schemas.microsoft.com/office/drawing/2014/main" id="{4714AF91-4100-3CED-78CE-4252D879762C}"/>
              </a:ext>
            </a:extLst>
          </p:cNvPr>
          <p:cNvSpPr/>
          <p:nvPr/>
        </p:nvSpPr>
        <p:spPr>
          <a:xfrm>
            <a:off x="195939" y="9865258"/>
            <a:ext cx="13135992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ysClr val="windowText" lastClr="000000"/>
                  </a:solidFill>
                </a:ln>
              </a:rPr>
              <a:t>MC</a:t>
            </a:r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0FEEAA-FC67-4D89-E404-D0AAC0C4E258}"/>
              </a:ext>
            </a:extLst>
          </p:cNvPr>
          <p:cNvSpPr txBox="1"/>
          <p:nvPr/>
        </p:nvSpPr>
        <p:spPr>
          <a:xfrm>
            <a:off x="843009" y="9936872"/>
            <a:ext cx="1166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Quantum Trajectories Approach (MCWF)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9004AE-8BDE-3A3E-8712-02C3161C21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998"/>
          <a:stretch>
            <a:fillRect/>
          </a:stretch>
        </p:blipFill>
        <p:spPr>
          <a:xfrm>
            <a:off x="264861" y="10915843"/>
            <a:ext cx="11004501" cy="15446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C6E7EE-3CBA-63A9-78AE-D34091272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49" y="12611112"/>
            <a:ext cx="12277411" cy="42162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BB0E28-1A66-0FE5-D673-FBC6B1C332DB}"/>
              </a:ext>
            </a:extLst>
          </p:cNvPr>
          <p:cNvSpPr txBox="1"/>
          <p:nvPr/>
        </p:nvSpPr>
        <p:spPr>
          <a:xfrm>
            <a:off x="13726514" y="4353179"/>
            <a:ext cx="16148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How typical trajectory looks like (in </a:t>
            </a:r>
            <a:r>
              <a:rPr lang="en-US" sz="5400" b="1" dirty="0" err="1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bistability</a:t>
            </a:r>
            <a:r>
              <a:rPr lang="en-US" sz="5400" b="1" dirty="0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 region)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CA86070-B111-F81F-2AC5-82405F32F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26514" y="5652526"/>
            <a:ext cx="15664917" cy="46352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10992A-3E0B-B971-9B7E-5AFC0C285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78794" y="10366479"/>
            <a:ext cx="15269268" cy="154465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3534238-AABE-F2CD-2438-C1BCDFA3BB93}"/>
              </a:ext>
            </a:extLst>
          </p:cNvPr>
          <p:cNvGrpSpPr/>
          <p:nvPr/>
        </p:nvGrpSpPr>
        <p:grpSpPr>
          <a:xfrm>
            <a:off x="14378794" y="11851335"/>
            <a:ext cx="15653244" cy="7399665"/>
            <a:chOff x="14357108" y="12091493"/>
            <a:chExt cx="15653244" cy="1361661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DDBC8A3-838D-26EE-7DEA-D18E719AE52F}"/>
                </a:ext>
              </a:extLst>
            </p:cNvPr>
            <p:cNvSpPr/>
            <p:nvPr/>
          </p:nvSpPr>
          <p:spPr>
            <a:xfrm>
              <a:off x="14357108" y="12091493"/>
              <a:ext cx="15653244" cy="1361661"/>
            </a:xfrm>
            <a:prstGeom prst="roundRect">
              <a:avLst>
                <a:gd name="adj" fmla="val 7887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defTabSz="914400">
                <a:defRPr/>
              </a:pPr>
              <a:r>
                <a:rPr lang="en-US" sz="3600" dirty="0">
                  <a:solidFill>
                    <a:schemeClr val="tx1"/>
                  </a:solidFill>
                  <a:latin typeface="Weizmann" pitchFamily="2" charset="-79"/>
                  <a:cs typeface="Weizmann" pitchFamily="2" charset="-79"/>
                </a:rPr>
                <a:t>Create a model to quantum trajectories generate trajectories based on data from Monte Carlo wave-function simulations in </a:t>
              </a:r>
              <a:r>
                <a:rPr lang="en-US" sz="3600" dirty="0" err="1">
                  <a:solidFill>
                    <a:schemeClr val="tx1"/>
                  </a:solidFill>
                  <a:latin typeface="Weizmann" pitchFamily="2" charset="-79"/>
                  <a:cs typeface="Weizmann" pitchFamily="2" charset="-79"/>
                </a:rPr>
                <a:t>QuTiP</a:t>
              </a:r>
              <a:r>
                <a:rPr lang="en-US" sz="3600" dirty="0">
                  <a:solidFill>
                    <a:schemeClr val="tx1"/>
                  </a:solidFill>
                  <a:latin typeface="Weizmann" pitchFamily="2" charset="-79"/>
                  <a:cs typeface="Weizmann" pitchFamily="2" charset="-79"/>
                </a:rPr>
                <a:t> </a:t>
              </a: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endParaRPr lang="en-US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algn="ctr" defTabSz="914400">
                <a:defRPr/>
              </a:pPr>
              <a:r>
                <a:rPr lang="en-US" sz="2800" dirty="0">
                  <a:solidFill>
                    <a:schemeClr val="tx1"/>
                  </a:solidFill>
                  <a:latin typeface="Weizmann" pitchFamily="2" charset="-79"/>
                  <a:cs typeface="Weizmann" pitchFamily="2" charset="-79"/>
                </a:rPr>
                <a:t> </a:t>
              </a:r>
              <a:endParaRPr lang="he-IL" sz="2800" dirty="0">
                <a:solidFill>
                  <a:schemeClr val="tx1"/>
                </a:solidFill>
                <a:latin typeface="Weizmann" pitchFamily="2" charset="-79"/>
                <a:cs typeface="Weizmann" pitchFamily="2" charset="-79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28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eizmann" pitchFamily="2" charset="-79"/>
                <a:cs typeface="Weizmann" pitchFamily="2" charset="-79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3249014-952F-314D-B93D-B28F5271F6DA}"/>
                </a:ext>
              </a:extLst>
            </p:cNvPr>
            <p:cNvSpPr/>
            <p:nvPr/>
          </p:nvSpPr>
          <p:spPr>
            <a:xfrm>
              <a:off x="14357108" y="12094808"/>
              <a:ext cx="15653244" cy="1834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Weizmann Bold" pitchFamily="2" charset="-79"/>
                  <a:cs typeface="Weizmann Bold" pitchFamily="2" charset="-79"/>
                </a:rPr>
                <a:t>Goal of the project </a:t>
              </a:r>
              <a:endParaRPr kumimoji="0" lang="he-IL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eizmann Bold" pitchFamily="2" charset="-79"/>
                <a:cs typeface="Weizmann Bold" pitchFamily="2" charset="-79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44659BF-5A2D-FD46-2FF0-4CC4D6A7D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32684" y="14191061"/>
            <a:ext cx="8703970" cy="48005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A4A2DE-0231-8083-3A41-931CB76615AF}"/>
                  </a:ext>
                </a:extLst>
              </p:cNvPr>
              <p:cNvSpPr txBox="1"/>
              <p:nvPr/>
            </p:nvSpPr>
            <p:spPr>
              <a:xfrm>
                <a:off x="23737753" y="13934021"/>
                <a:ext cx="5653678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3600" dirty="0">
                  <a:latin typeface="Weizmann" pitchFamily="2" charset="-79"/>
                  <a:cs typeface="Weizmann" pitchFamily="2" charset="-79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Fix 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 </a:t>
                </a:r>
                <a:r>
                  <a:rPr lang="en-US" sz="3600" dirty="0">
                    <a:latin typeface="Weizmann" pitchFamily="2" charset="-79"/>
                    <a:cs typeface="Weizmann" pitchFamily="2" charset="-79"/>
                    <a:sym typeface="Wingdings" pitchFamily="2" charset="2"/>
                  </a:rPr>
                  <a:t> Generate More Trajectories Faster  Capture mean and/or </a:t>
                </a:r>
                <a:r>
                  <a:rPr lang="en-US" sz="3600" dirty="0" err="1">
                    <a:latin typeface="Weizmann" pitchFamily="2" charset="-79"/>
                    <a:cs typeface="Weizmann" pitchFamily="2" charset="-79"/>
                    <a:sym typeface="Wingdings" pitchFamily="2" charset="2"/>
                  </a:rPr>
                  <a:t>bistability</a:t>
                </a:r>
                <a:endParaRPr lang="en-US" sz="3600" dirty="0">
                  <a:latin typeface="Weizmann" pitchFamily="2" charset="-79"/>
                  <a:cs typeface="Weizmann" pitchFamily="2" charset="-79"/>
                  <a:sym typeface="Wingdings" pitchFamily="2" charset="2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  <a:sym typeface="Wingdings" pitchFamily="2" charset="2"/>
                  </a:rPr>
                  <a:t>Fix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 and try to extrapolate to unreachable N values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Full model with 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sz="3600" dirty="0">
                  <a:latin typeface="Weizmann" pitchFamily="2" charset="-79"/>
                  <a:cs typeface="Weizmann" pitchFamily="2" charset="-79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A4A2DE-0231-8083-3A41-931CB7661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7753" y="13934021"/>
                <a:ext cx="5653678" cy="5078313"/>
              </a:xfrm>
              <a:prstGeom prst="rect">
                <a:avLst/>
              </a:prstGeom>
              <a:blipFill>
                <a:blip r:embed="rId10"/>
                <a:stretch>
                  <a:fillRect l="-2466" r="-4036" b="-3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1EC07604-7D04-E2ED-0340-4F16C5DD79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919" y="17063183"/>
            <a:ext cx="12292032" cy="3759916"/>
          </a:xfrm>
          <a:prstGeom prst="rect">
            <a:avLst/>
          </a:prstGeom>
        </p:spPr>
      </p:pic>
      <p:sp>
        <p:nvSpPr>
          <p:cNvPr id="26" name="Прямоугольник 162">
            <a:extLst>
              <a:ext uri="{FF2B5EF4-FFF2-40B4-BE49-F238E27FC236}">
                <a16:creationId xmlns:a16="http://schemas.microsoft.com/office/drawing/2014/main" id="{851187FD-5B4C-3843-1F24-3AAE53CAED6C}"/>
              </a:ext>
            </a:extLst>
          </p:cNvPr>
          <p:cNvSpPr/>
          <p:nvPr/>
        </p:nvSpPr>
        <p:spPr>
          <a:xfrm>
            <a:off x="364424" y="20803963"/>
            <a:ext cx="13135992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B9F041-7AC7-AB8C-A705-C6857605C505}"/>
              </a:ext>
            </a:extLst>
          </p:cNvPr>
          <p:cNvSpPr txBox="1"/>
          <p:nvPr/>
        </p:nvSpPr>
        <p:spPr>
          <a:xfrm>
            <a:off x="843008" y="20868583"/>
            <a:ext cx="1166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TrajectoryGRUGrid</a:t>
            </a:r>
            <a:r>
              <a:rPr lang="en-US" sz="4800" b="1" dirty="0">
                <a:solidFill>
                  <a:schemeClr val="bg1"/>
                </a:solidFill>
                <a:latin typeface="Weizmann Bold" pitchFamily="2" charset="-79"/>
                <a:cs typeface="Weizmann Bold" pitchFamily="2" charset="-79"/>
              </a:rPr>
              <a:t>:     Model Architecture</a:t>
            </a:r>
            <a:endParaRPr lang="en-US" sz="4800" b="1" dirty="0">
              <a:solidFill>
                <a:schemeClr val="bg1"/>
              </a:solidFill>
              <a:latin typeface="Weizmann Bold" pitchFamily="2" charset="-79"/>
              <a:cs typeface="Weizmann Bold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A78550E-BB4E-E193-4392-750E89342820}"/>
                  </a:ext>
                </a:extLst>
              </p:cNvPr>
              <p:cNvSpPr txBox="1"/>
              <p:nvPr/>
            </p:nvSpPr>
            <p:spPr>
              <a:xfrm>
                <a:off x="219611" y="22068961"/>
                <a:ext cx="13506903" cy="988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cs typeface="Weizmann" pitchFamily="2" charset="-79"/>
                  </a:rPr>
                  <a:t>We use a Gate Recurrent Unit (GRU) model for predicting time series on a </a:t>
                </a:r>
                <a:r>
                  <a:rPr lang="en-US" sz="2800" b="1" dirty="0">
                    <a:cs typeface="Weizmann Bold" pitchFamily="2" charset="-79"/>
                  </a:rPr>
                  <a:t>discrete</a:t>
                </a:r>
                <a:r>
                  <a:rPr lang="en-US" sz="2800" dirty="0">
                    <a:cs typeface="Weizmann" pitchFamily="2" charset="-79"/>
                  </a:rPr>
                  <a:t> grid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  <m:t>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Weizmann Bold" pitchFamily="2" charset="-79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  <a:cs typeface="Weizmann Bold" pitchFamily="2" charset="-79"/>
                      </a:rPr>
                      <m:t>;</m:t>
                    </m:r>
                    <m:sSub>
                      <m:sSubPr>
                        <m:ctrlPr>
                          <a:rPr lang="en-US" sz="2800" b="0" i="0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800" dirty="0">
                    <a:cs typeface="Weizmann" pitchFamily="2" charset="-79"/>
                  </a:rPr>
                  <a:t> - hidden state. 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=[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]</m:t>
                    </m:r>
                  </m:oMath>
                </a14:m>
                <a:r>
                  <a:rPr lang="en-US" sz="2800" dirty="0">
                    <a:cs typeface="Weizmann" pitchFamily="2" charset="-79"/>
                  </a:rPr>
                  <a:t>;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𝑠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Weizmann Bold" pitchFamily="2" charset="-79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∈[−1;1]</m:t>
                    </m:r>
                  </m:oMath>
                </a14:m>
                <a:endParaRPr lang="en-US" sz="2800" dirty="0">
                  <a:cs typeface="Weizmann" pitchFamily="2" charset="-79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A78550E-BB4E-E193-4392-750E89342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11" y="22068961"/>
                <a:ext cx="13506903" cy="988091"/>
              </a:xfrm>
              <a:prstGeom prst="rect">
                <a:avLst/>
              </a:prstGeom>
              <a:blipFill>
                <a:blip r:embed="rId12"/>
                <a:stretch>
                  <a:fillRect l="-940" t="-6329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B05DE91F-E44E-CD17-9F3B-25BAA5F71D0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443" b="10902"/>
          <a:stretch>
            <a:fillRect/>
          </a:stretch>
        </p:blipFill>
        <p:spPr>
          <a:xfrm>
            <a:off x="16895" y="23075728"/>
            <a:ext cx="13599891" cy="7274657"/>
          </a:xfrm>
          <a:prstGeom prst="rect">
            <a:avLst/>
          </a:prstGeom>
        </p:spPr>
      </p:pic>
      <p:sp>
        <p:nvSpPr>
          <p:cNvPr id="36" name="Прямоугольник 162">
            <a:extLst>
              <a:ext uri="{FF2B5EF4-FFF2-40B4-BE49-F238E27FC236}">
                <a16:creationId xmlns:a16="http://schemas.microsoft.com/office/drawing/2014/main" id="{967277D7-A05B-267C-822F-E5F5A02C0552}"/>
              </a:ext>
            </a:extLst>
          </p:cNvPr>
          <p:cNvSpPr/>
          <p:nvPr/>
        </p:nvSpPr>
        <p:spPr>
          <a:xfrm>
            <a:off x="290150" y="30544618"/>
            <a:ext cx="13135992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0BB267-37C4-BCB9-3D96-23E0052EA5BC}"/>
                  </a:ext>
                </a:extLst>
              </p:cNvPr>
              <p:cNvSpPr txBox="1"/>
              <p:nvPr/>
            </p:nvSpPr>
            <p:spPr>
              <a:xfrm>
                <a:off x="905733" y="30575670"/>
                <a:ext cx="116614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Dataset: Quantum Trajectories with N and 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Weizmann Bold" pitchFamily="2" charset="-79"/>
                      </a:rPr>
                      <m:t>𝛀</m:t>
                    </m:r>
                  </m:oMath>
                </a14:m>
                <a:endParaRPr lang="en-US" sz="4800" b="1" dirty="0">
                  <a:solidFill>
                    <a:schemeClr val="bg1"/>
                  </a:solidFill>
                  <a:latin typeface="Weizmann Bold" pitchFamily="2" charset="-79"/>
                  <a:cs typeface="Weizmann Bold" pitchFamily="2" charset="-79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0BB267-37C4-BCB9-3D96-23E0052EA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33" y="30575670"/>
                <a:ext cx="11661441" cy="830997"/>
              </a:xfrm>
              <a:prstGeom prst="rect">
                <a:avLst/>
              </a:prstGeom>
              <a:blipFill>
                <a:blip r:embed="rId14"/>
                <a:stretch>
                  <a:fillRect l="-1850" t="-16667" r="-435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4494A-4C0B-2E6E-262C-C59A47CDA72E}"/>
                  </a:ext>
                </a:extLst>
              </p:cNvPr>
              <p:cNvSpPr txBox="1"/>
              <p:nvPr/>
            </p:nvSpPr>
            <p:spPr>
              <a:xfrm>
                <a:off x="455465" y="31735793"/>
                <a:ext cx="1316132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Number of Atoms: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𝑁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∈{4, 6, 8, 10, 12, 14, 16, 18}</m:t>
                    </m:r>
                  </m:oMath>
                </a14:m>
                <a:endParaRPr lang="en-US" sz="3600" dirty="0">
                  <a:latin typeface="Weizmann" pitchFamily="2" charset="-79"/>
                  <a:cs typeface="Weizmann" pitchFamily="2" charset="-79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Drive ratios: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cs typeface="Weizmann" pitchFamily="2" charset="-79"/>
                      </a:rPr>
                      <m:t>Ω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Weizmann Bold" pitchFamily="2" charset="-79"/>
                      </a:rPr>
                      <m:t>∈{0.61, 0.63, 0.65, 0.67, 0.69, 0.71, 0.73, 0.75}</m:t>
                    </m:r>
                  </m:oMath>
                </a14:m>
                <a:endParaRPr lang="en-US" sz="3600" dirty="0">
                  <a:latin typeface="Weizmann" pitchFamily="2" charset="-79"/>
                  <a:cs typeface="Weizmann" pitchFamily="2" charset="-79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Weizmann" pitchFamily="2" charset="-79"/>
                    <a:cs typeface="Weizmann" pitchFamily="2" charset="-79"/>
                  </a:rPr>
                  <a:t>Trajectories per condition  = 500</a:t>
                </a:r>
              </a:p>
              <a:p>
                <a:endParaRPr lang="en-US" sz="3600" dirty="0">
                  <a:latin typeface="Weizmann" pitchFamily="2" charset="-79"/>
                  <a:cs typeface="Weizmann" pitchFamily="2" charset="-79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4494A-4C0B-2E6E-262C-C59A47CDA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65" y="31735793"/>
                <a:ext cx="13161321" cy="2308324"/>
              </a:xfrm>
              <a:prstGeom prst="rect">
                <a:avLst/>
              </a:prstGeom>
              <a:blipFill>
                <a:blip r:embed="rId15"/>
                <a:stretch>
                  <a:fillRect l="-1254" t="-3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Прямоугольник 162">
            <a:extLst>
              <a:ext uri="{FF2B5EF4-FFF2-40B4-BE49-F238E27FC236}">
                <a16:creationId xmlns:a16="http://schemas.microsoft.com/office/drawing/2014/main" id="{6720B567-7474-8110-811D-D74CC0FB19AB}"/>
              </a:ext>
            </a:extLst>
          </p:cNvPr>
          <p:cNvSpPr/>
          <p:nvPr/>
        </p:nvSpPr>
        <p:spPr>
          <a:xfrm>
            <a:off x="13716502" y="19484231"/>
            <a:ext cx="16528126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12B7C6-0F78-A3B3-3FD7-0B6DBCE0B439}"/>
                  </a:ext>
                </a:extLst>
              </p:cNvPr>
              <p:cNvSpPr txBox="1"/>
              <p:nvPr/>
            </p:nvSpPr>
            <p:spPr>
              <a:xfrm>
                <a:off x="15976974" y="19478143"/>
                <a:ext cx="116614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Fixed N and </a:t>
                </a:r>
                <a14:m>
                  <m:oMath xmlns:m="http://schemas.openxmlformats.org/officeDocument/2006/math">
                    <m:r>
                      <a:rPr lang="en-US" sz="5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Weizmann Bold" pitchFamily="2" charset="-79"/>
                      </a:rPr>
                      <m:t>𝛀</m:t>
                    </m:r>
                  </m:oMath>
                </a14:m>
                <a:r>
                  <a:rPr lang="en-US" sz="54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 – test of the model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12B7C6-0F78-A3B3-3FD7-0B6DBCE0B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6974" y="19478143"/>
                <a:ext cx="11661441" cy="923330"/>
              </a:xfrm>
              <a:prstGeom prst="rect">
                <a:avLst/>
              </a:prstGeom>
              <a:blipFill>
                <a:blip r:embed="rId16"/>
                <a:stretch>
                  <a:fillRect t="-17568" b="-37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6E8BE870-1751-4DAF-6AD4-CCFBC2C90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42402" y="20661535"/>
            <a:ext cx="5994400" cy="36449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6F4F86D-5AAF-4B4B-0EAD-4FAB604711C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726814" y="20661535"/>
            <a:ext cx="9861968" cy="30166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1BFDB7B-2040-A296-3B43-FCD89AE15ADF}"/>
                  </a:ext>
                </a:extLst>
              </p:cNvPr>
              <p:cNvSpPr txBox="1"/>
              <p:nvPr/>
            </p:nvSpPr>
            <p:spPr>
              <a:xfrm>
                <a:off x="21070841" y="23633438"/>
                <a:ext cx="78346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cs typeface="Weizmann" pitchFamily="2" charset="-79"/>
                  </a:rPr>
                  <a:t>N = 18,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Weizmann" pitchFamily="2" charset="-79"/>
                      </a:rPr>
                      <m:t>Ω</m:t>
                    </m:r>
                  </m:oMath>
                </a14:m>
                <a:r>
                  <a:rPr lang="en-US" sz="2800" dirty="0">
                    <a:cs typeface="Weizmann" pitchFamily="2" charset="-79"/>
                  </a:rPr>
                  <a:t> = 0.73. Exact vs ML Generated trajectory</a:t>
                </a: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1BFDB7B-2040-A296-3B43-FCD89AE1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0841" y="23633438"/>
                <a:ext cx="7834645" cy="523220"/>
              </a:xfrm>
              <a:prstGeom prst="rect">
                <a:avLst/>
              </a:prstGeom>
              <a:blipFill>
                <a:blip r:embed="rId19"/>
                <a:stretch>
                  <a:fillRect l="-1618" t="-11628" r="-485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B800B280-D793-0588-84DE-B1252C404E8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56206"/>
          <a:stretch>
            <a:fillRect/>
          </a:stretch>
        </p:blipFill>
        <p:spPr>
          <a:xfrm>
            <a:off x="14273126" y="27692349"/>
            <a:ext cx="7772400" cy="163873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3661638-B28C-5695-2EAB-0D966949E19F}"/>
              </a:ext>
            </a:extLst>
          </p:cNvPr>
          <p:cNvSpPr txBox="1"/>
          <p:nvPr/>
        </p:nvSpPr>
        <p:spPr>
          <a:xfrm>
            <a:off x="17680287" y="28586213"/>
            <a:ext cx="3084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✅ Captures mean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2990F46-FDF9-E0AA-4DBC-B9D84A00BE49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9080"/>
          <a:stretch>
            <a:fillRect/>
          </a:stretch>
        </p:blipFill>
        <p:spPr>
          <a:xfrm>
            <a:off x="21969583" y="24402555"/>
            <a:ext cx="5668832" cy="296808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20022B6-2933-F2CA-9686-991C4012AF58}"/>
              </a:ext>
            </a:extLst>
          </p:cNvPr>
          <p:cNvSpPr txBox="1"/>
          <p:nvPr/>
        </p:nvSpPr>
        <p:spPr>
          <a:xfrm>
            <a:off x="19980319" y="27047235"/>
            <a:ext cx="3648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✅ Captures </a:t>
            </a:r>
            <a:r>
              <a:rPr lang="en-US" sz="2800" dirty="0" err="1">
                <a:cs typeface="Weizmann" pitchFamily="2" charset="-79"/>
              </a:rPr>
              <a:t>Bistability</a:t>
            </a:r>
            <a:endParaRPr lang="en-US" sz="2800" dirty="0">
              <a:cs typeface="Weizmann" pitchFamily="2" charset="-79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AB459EC-1A1A-C8EA-A5C7-43AA1C8DCB3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042260" y="24337020"/>
            <a:ext cx="5794542" cy="311443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744EEA2-61F8-CC73-C0E8-225354342DC3}"/>
              </a:ext>
            </a:extLst>
          </p:cNvPr>
          <p:cNvSpPr txBox="1"/>
          <p:nvPr/>
        </p:nvSpPr>
        <p:spPr>
          <a:xfrm>
            <a:off x="27912530" y="24757312"/>
            <a:ext cx="1759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  = 18</a:t>
            </a:r>
          </a:p>
          <a:p>
            <a:r>
              <a:rPr lang="en-US" sz="2800" dirty="0" err="1"/>
              <a:t>Bistability</a:t>
            </a:r>
            <a:r>
              <a:rPr lang="en-US" sz="2800" dirty="0"/>
              <a:t> Exist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50264-3DDC-A232-1AF9-C76F244B229C}"/>
              </a:ext>
            </a:extLst>
          </p:cNvPr>
          <p:cNvSpPr txBox="1"/>
          <p:nvPr/>
        </p:nvSpPr>
        <p:spPr>
          <a:xfrm>
            <a:off x="20066415" y="24556538"/>
            <a:ext cx="1759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  = 8</a:t>
            </a:r>
          </a:p>
          <a:p>
            <a:r>
              <a:rPr lang="en-US" sz="2800" dirty="0"/>
              <a:t>NO </a:t>
            </a:r>
            <a:r>
              <a:rPr lang="en-US" sz="2800" dirty="0" err="1"/>
              <a:t>Bistability</a:t>
            </a:r>
            <a:endParaRPr lang="en-US" sz="2800" dirty="0"/>
          </a:p>
        </p:txBody>
      </p:sp>
      <p:sp>
        <p:nvSpPr>
          <p:cNvPr id="52" name="Прямоугольник 162">
            <a:extLst>
              <a:ext uri="{FF2B5EF4-FFF2-40B4-BE49-F238E27FC236}">
                <a16:creationId xmlns:a16="http://schemas.microsoft.com/office/drawing/2014/main" id="{3F538C6F-C28A-7186-D519-2F16547EDB57}"/>
              </a:ext>
            </a:extLst>
          </p:cNvPr>
          <p:cNvSpPr/>
          <p:nvPr/>
        </p:nvSpPr>
        <p:spPr>
          <a:xfrm>
            <a:off x="13616786" y="29525312"/>
            <a:ext cx="16528126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F3E5FF4-C1B6-C403-1020-8E4F9DC7077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908215" y="27307036"/>
            <a:ext cx="5862981" cy="212115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1615085-7973-CCB8-AE5C-8AED5212DA54}"/>
              </a:ext>
            </a:extLst>
          </p:cNvPr>
          <p:cNvSpPr txBox="1"/>
          <p:nvPr/>
        </p:nvSpPr>
        <p:spPr>
          <a:xfrm>
            <a:off x="24471091" y="27971973"/>
            <a:ext cx="2402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Weizmann" pitchFamily="2" charset="-79"/>
              </a:rPr>
              <a:t>❌ Does not complete </a:t>
            </a:r>
          </a:p>
          <a:p>
            <a:r>
              <a:rPr lang="en-US" dirty="0">
                <a:cs typeface="Weizmann" pitchFamily="2" charset="-79"/>
              </a:rPr>
              <a:t>Real trajectory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4EF73DA-A5DB-E3FF-F860-4DA740C32D05}"/>
                  </a:ext>
                </a:extLst>
              </p:cNvPr>
              <p:cNvSpPr txBox="1"/>
              <p:nvPr/>
            </p:nvSpPr>
            <p:spPr>
              <a:xfrm>
                <a:off x="15728251" y="29537702"/>
                <a:ext cx="12679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cs typeface="Weizmann Bold" pitchFamily="2" charset="-79"/>
                  </a:rPr>
                  <a:t>Fixed</a:t>
                </a:r>
                <a:r>
                  <a:rPr lang="en-US" sz="5400" dirty="0">
                    <a:solidFill>
                      <a:schemeClr val="bg1"/>
                    </a:solidFill>
                    <a:cs typeface="Weizmann Bold" pitchFamily="2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Weizmann Bold" pitchFamily="2" charset="-79"/>
                      </a:rPr>
                      <m:t>𝛀</m:t>
                    </m:r>
                  </m:oMath>
                </a14:m>
                <a:r>
                  <a:rPr lang="en-US" sz="54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 and try to extrapolate to larger N 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4EF73DA-A5DB-E3FF-F860-4DA740C32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251" y="29537702"/>
                <a:ext cx="12679109" cy="923330"/>
              </a:xfrm>
              <a:prstGeom prst="rect">
                <a:avLst/>
              </a:prstGeom>
              <a:blipFill>
                <a:blip r:embed="rId24"/>
                <a:stretch>
                  <a:fillRect t="-20270" r="-801" b="-39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318231-E24A-8B04-212A-605A15DADCA3}"/>
                  </a:ext>
                </a:extLst>
              </p:cNvPr>
              <p:cNvSpPr txBox="1"/>
              <p:nvPr/>
            </p:nvSpPr>
            <p:spPr>
              <a:xfrm>
                <a:off x="13616786" y="30677943"/>
                <a:ext cx="1280728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cs typeface="Weizmann" pitchFamily="2" charset="-79"/>
                  </a:rPr>
                  <a:t>Learned on N up to 18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Weizmann" pitchFamily="2" charset="-79"/>
                      </a:rPr>
                      <m:t>Ω</m:t>
                    </m:r>
                  </m:oMath>
                </a14:m>
                <a:r>
                  <a:rPr lang="en-US" sz="2800" dirty="0">
                    <a:cs typeface="Weizmann" pitchFamily="2" charset="-79"/>
                  </a:rPr>
                  <a:t> = 0.73 (</a:t>
                </a:r>
                <a:r>
                  <a:rPr lang="en-US" sz="2800" dirty="0" err="1">
                    <a:cs typeface="Weizmann" pitchFamily="2" charset="-79"/>
                  </a:rPr>
                  <a:t>bistability</a:t>
                </a:r>
                <a:r>
                  <a:rPr lang="en-US" sz="2800" dirty="0">
                    <a:cs typeface="Weizmann" pitchFamily="2" charset="-79"/>
                  </a:rPr>
                  <a:t> region)</a:t>
                </a:r>
              </a:p>
              <a:p>
                <a:r>
                  <a:rPr lang="en-US" sz="2800" dirty="0">
                    <a:cs typeface="Weizmann" pitchFamily="2" charset="-79"/>
                  </a:rPr>
                  <a:t>I can check larger N with (a) Mean-Field for each trajectory (b) PIQS for mean value</a:t>
                </a: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318231-E24A-8B04-212A-605A15DAD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6786" y="30677943"/>
                <a:ext cx="12807289" cy="954107"/>
              </a:xfrm>
              <a:prstGeom prst="rect">
                <a:avLst/>
              </a:prstGeom>
              <a:blipFill>
                <a:blip r:embed="rId25"/>
                <a:stretch>
                  <a:fillRect l="-991" t="-657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D2AEA98C-4FCF-0BBD-277D-877EC3DBE104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b="15498"/>
          <a:stretch>
            <a:fillRect/>
          </a:stretch>
        </p:blipFill>
        <p:spPr>
          <a:xfrm>
            <a:off x="13417218" y="31689022"/>
            <a:ext cx="8282434" cy="191782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D8E1132-9D08-0339-334D-00A4095C8114}"/>
              </a:ext>
            </a:extLst>
          </p:cNvPr>
          <p:cNvSpPr txBox="1"/>
          <p:nvPr/>
        </p:nvSpPr>
        <p:spPr>
          <a:xfrm>
            <a:off x="14191925" y="31861309"/>
            <a:ext cx="3995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✅ Works great for N = 22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0D62B5B2-581C-0593-C657-4D105708760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889448" y="31678566"/>
            <a:ext cx="8287993" cy="227108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02F7B6A-0D56-E03A-DA00-DB9D015A3D28}"/>
              </a:ext>
            </a:extLst>
          </p:cNvPr>
          <p:cNvSpPr txBox="1"/>
          <p:nvPr/>
        </p:nvSpPr>
        <p:spPr>
          <a:xfrm>
            <a:off x="22961575" y="31953891"/>
            <a:ext cx="3019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🟡 Good for N = 34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737452D-52EB-DBD8-9D2A-48A7B303B12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434626" y="33624932"/>
            <a:ext cx="8282433" cy="226956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599433D0-64B1-E12F-315B-13C9E4C2079C}"/>
              </a:ext>
            </a:extLst>
          </p:cNvPr>
          <p:cNvSpPr txBox="1"/>
          <p:nvPr/>
        </p:nvSpPr>
        <p:spPr>
          <a:xfrm>
            <a:off x="14245922" y="33854191"/>
            <a:ext cx="3050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❌ Wrong at N = 50</a:t>
            </a:r>
          </a:p>
        </p:txBody>
      </p:sp>
      <p:pic>
        <p:nvPicPr>
          <p:cNvPr id="448" name="Picture 447">
            <a:extLst>
              <a:ext uri="{FF2B5EF4-FFF2-40B4-BE49-F238E27FC236}">
                <a16:creationId xmlns:a16="http://schemas.microsoft.com/office/drawing/2014/main" id="{2291EEC4-7D78-4FE8-F786-5A87BA93D32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013428" y="34038715"/>
            <a:ext cx="8140368" cy="2732768"/>
          </a:xfrm>
          <a:prstGeom prst="rect">
            <a:avLst/>
          </a:prstGeom>
        </p:spPr>
      </p:pic>
      <p:sp>
        <p:nvSpPr>
          <p:cNvPr id="449" name="TextBox 448">
            <a:extLst>
              <a:ext uri="{FF2B5EF4-FFF2-40B4-BE49-F238E27FC236}">
                <a16:creationId xmlns:a16="http://schemas.microsoft.com/office/drawing/2014/main" id="{20519816-830E-C7C3-34E7-3642CECFB9D0}"/>
              </a:ext>
            </a:extLst>
          </p:cNvPr>
          <p:cNvSpPr txBox="1"/>
          <p:nvPr/>
        </p:nvSpPr>
        <p:spPr>
          <a:xfrm>
            <a:off x="17056339" y="35983558"/>
            <a:ext cx="5340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cs typeface="Weizmann" pitchFamily="2" charset="-79"/>
              </a:rPr>
              <a:t>❌ Mean estimation is not precise</a:t>
            </a:r>
          </a:p>
        </p:txBody>
      </p:sp>
      <p:sp>
        <p:nvSpPr>
          <p:cNvPr id="450" name="Прямоугольник 162">
            <a:extLst>
              <a:ext uri="{FF2B5EF4-FFF2-40B4-BE49-F238E27FC236}">
                <a16:creationId xmlns:a16="http://schemas.microsoft.com/office/drawing/2014/main" id="{FD41D1A4-D1AB-AD26-1C22-2DA1E4937A08}"/>
              </a:ext>
            </a:extLst>
          </p:cNvPr>
          <p:cNvSpPr/>
          <p:nvPr/>
        </p:nvSpPr>
        <p:spPr>
          <a:xfrm>
            <a:off x="13616786" y="36977926"/>
            <a:ext cx="16528126" cy="99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2807B322-F800-61DF-A9AA-D58F93504499}"/>
                  </a:ext>
                </a:extLst>
              </p:cNvPr>
              <p:cNvSpPr txBox="1"/>
              <p:nvPr/>
            </p:nvSpPr>
            <p:spPr>
              <a:xfrm>
                <a:off x="15877258" y="36971838"/>
                <a:ext cx="116614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latin typeface="Weizmann Bold" pitchFamily="2" charset="-79"/>
                    <a:cs typeface="Weizmann Bold" pitchFamily="2" charset="-79"/>
                  </a:rPr>
                  <a:t>Full Model: Vary N and </a:t>
                </a:r>
                <a14:m>
                  <m:oMath xmlns:m="http://schemas.openxmlformats.org/officeDocument/2006/math">
                    <m:r>
                      <a:rPr lang="en-US" sz="54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Weizmann Bold" pitchFamily="2" charset="-79"/>
                      </a:rPr>
                      <m:t>𝛀</m:t>
                    </m:r>
                  </m:oMath>
                </a14:m>
                <a:endParaRPr lang="en-US" sz="5400" b="1" dirty="0">
                  <a:solidFill>
                    <a:schemeClr val="bg1"/>
                  </a:solidFill>
                  <a:latin typeface="Weizmann Bold" pitchFamily="2" charset="-79"/>
                  <a:cs typeface="Weizmann Bold" pitchFamily="2" charset="-79"/>
                </a:endParaRPr>
              </a:p>
            </p:txBody>
          </p:sp>
        </mc:Choice>
        <mc:Fallback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2807B322-F800-61DF-A9AA-D58F93504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7258" y="36971838"/>
                <a:ext cx="11661441" cy="923330"/>
              </a:xfrm>
              <a:prstGeom prst="rect">
                <a:avLst/>
              </a:prstGeom>
              <a:blipFill>
                <a:blip r:embed="rId30"/>
                <a:stretch>
                  <a:fillRect t="-17808" b="-39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TextBox 451">
            <a:extLst>
              <a:ext uri="{FF2B5EF4-FFF2-40B4-BE49-F238E27FC236}">
                <a16:creationId xmlns:a16="http://schemas.microsoft.com/office/drawing/2014/main" id="{7BB6E2E3-2BD9-5CFC-18A6-E1CCE4C4C82F}"/>
              </a:ext>
            </a:extLst>
          </p:cNvPr>
          <p:cNvSpPr txBox="1"/>
          <p:nvPr/>
        </p:nvSpPr>
        <p:spPr>
          <a:xfrm>
            <a:off x="13656077" y="37995280"/>
            <a:ext cx="810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cs typeface="Weizmann" pitchFamily="2" charset="-79"/>
              </a:rPr>
              <a:t>List </a:t>
            </a:r>
            <a:endParaRPr lang="en-US" sz="2800" dirty="0">
              <a:cs typeface="Weizmann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397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/>
      <p:bldP spid="19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13502</TotalTime>
  <Words>350</Words>
  <Application>Microsoft Macintosh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Tahoma</vt:lpstr>
      <vt:lpstr>Weizmann</vt:lpstr>
      <vt:lpstr>Weizmann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Leppenen</dc:creator>
  <cp:lastModifiedBy>Nikita Leppenen</cp:lastModifiedBy>
  <cp:revision>7</cp:revision>
  <dcterms:created xsi:type="dcterms:W3CDTF">2025-01-15T14:15:47Z</dcterms:created>
  <dcterms:modified xsi:type="dcterms:W3CDTF">2026-09-01T22:09:01Z</dcterms:modified>
</cp:coreProperties>
</file>